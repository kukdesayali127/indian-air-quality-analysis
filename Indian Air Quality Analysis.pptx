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7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Liberation Sans Bold" panose="020B0704020202020204"/>
      <p:bold r:id="rId25"/>
    </p:embeddedFont>
    <p:embeddedFont>
      <p:font typeface="Arial Bold" panose="020B0704020202020204"/>
      <p:bold r:id="rId26"/>
    </p:embeddedFont>
    <p:embeddedFont>
      <p:font typeface="Liberation Sans" panose="020B0604020202020204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748"/>
            <a:ext cx="18288000" cy="10706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  <p:txBody>
          <a:bodyPr/>
          <a:lstStyle/>
          <a:p>
            <a:pPr>
              <a:lnSpc>
                <a:spcPts val="5785"/>
              </a:lnSpc>
            </a:pPr>
            <a:r>
              <a:rPr lang="en-US" sz="3855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                                          </a:t>
            </a:r>
            <a:endParaRPr lang="en-US" sz="3855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>
              <a:lnSpc>
                <a:spcPts val="5785"/>
              </a:lnSpc>
            </a:pPr>
            <a:endParaRPr lang="en-US" sz="3855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>
              <a:lnSpc>
                <a:spcPts val="5785"/>
              </a:lnSpc>
            </a:pPr>
            <a:endParaRPr lang="en-US" sz="3855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just">
              <a:lnSpc>
                <a:spcPct val="150000"/>
              </a:lnSpc>
            </a:pPr>
            <a:r>
              <a:rPr lang="en-US" sz="540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                                   Project Title</a:t>
            </a:r>
            <a:endParaRPr lang="en-US" sz="540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416560" lvl="1" algn="just">
              <a:lnSpc>
                <a:spcPct val="150000"/>
              </a:lnSpc>
            </a:pPr>
            <a:r>
              <a:rPr lang="en-US" sz="3855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</a:t>
            </a:r>
            <a:r>
              <a:rPr lang="en-US" sz="600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Indian Air Quality Index Analysis</a:t>
            </a:r>
            <a:endParaRPr lang="en-US" sz="600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16560" lvl="1" algn="just">
              <a:lnSpc>
                <a:spcPct val="150000"/>
              </a:lnSpc>
            </a:pPr>
            <a:r>
              <a:rPr lang="en-US" sz="600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(AQI)</a:t>
            </a:r>
            <a:endParaRPr lang="en-US" sz="600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096686" y="189627"/>
            <a:ext cx="12094628" cy="724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483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Contents </a:t>
            </a:r>
            <a:endParaRPr lang="en-US" sz="483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4230"/>
              </a:lnSpc>
            </a:pPr>
            <a:endParaRPr lang="en-US" sz="483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457200" lvl="1" algn="l">
              <a:lnSpc>
                <a:spcPts val="5925"/>
              </a:lnSpc>
            </a:pP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Chapter 1 – Introduction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Chapter 2 – Technology stack &amp; Data Cleaning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Chapter 3 – Project Portfolio &amp; Analysis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Chapter 4 – Conclusion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Results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13765" lvl="1" indent="-457200" algn="l">
              <a:lnSpc>
                <a:spcPts val="5925"/>
              </a:lnSpc>
              <a:buAutoNum type="arabicPeriod"/>
            </a:pPr>
            <a:r>
              <a:rPr lang="en-US" sz="4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925"/>
              </a:lnSpc>
            </a:pPr>
            <a:endParaRPr lang="en-US" sz="4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47410"/>
            <a:ext cx="10329387" cy="117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95"/>
              </a:lnSpc>
            </a:pPr>
            <a:r>
              <a:rPr lang="en-US" sz="6710" b="1" spc="46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Chapter 1: Introduction</a:t>
            </a:r>
            <a:endParaRPr lang="en-US" sz="6710" b="1" spc="46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19200" y="2476500"/>
            <a:ext cx="15701645" cy="84575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30"/>
              </a:lnSpc>
            </a:pPr>
            <a:r>
              <a:rPr lang="en-US" sz="333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Internship Overview</a:t>
            </a:r>
            <a:endParaRPr lang="en-US" sz="333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Completed a one-month Data Analytics Internship at Algorism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Learned Python programming and Power BI basics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Worked on real-world AQI dataset analysis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Performed data cleaning and preprocessing using Pandas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Created charts and visualizations using Matplotlib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interactive dashboards in Power BI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59410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Learned real-world data analytics workflow and reporting skills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485"/>
              </a:lnSpc>
            </a:pPr>
            <a:r>
              <a:rPr lang="en-US" sz="36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95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95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95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95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95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65311" y="630962"/>
            <a:ext cx="13717838" cy="707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5"/>
              </a:lnSpc>
            </a:pPr>
            <a:r>
              <a:rPr lang="en-US" sz="393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1.2 Objectives</a:t>
            </a:r>
            <a:endParaRPr lang="en-US" sz="393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analyze Indian air quality data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clean missing and inconsistent data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identify highly polluted cities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study AQI trends over time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visualize pollution data using charts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6885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understand the relationship between pollutants and AQI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885"/>
              </a:lnSpc>
            </a:pP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3321" y="197176"/>
            <a:ext cx="18080215" cy="104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5"/>
              </a:lnSpc>
            </a:pPr>
            <a:r>
              <a:rPr lang="en-US" sz="5910" b="1" spc="41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Chapter 2: Technology Stack &amp; Data Cleaning</a:t>
            </a:r>
            <a:endParaRPr lang="en-US" sz="5910" b="1" spc="41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625936"/>
            <a:ext cx="15942882" cy="999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411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2.1 Technologies Used</a:t>
            </a:r>
            <a:endParaRPr lang="en-US" sz="411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4010"/>
              </a:lnSpc>
            </a:pPr>
            <a:endParaRPr lang="en-US" sz="411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79780" lvl="1" indent="-389890" algn="l">
              <a:lnSpc>
                <a:spcPts val="3610"/>
              </a:lnSpc>
              <a:buFont typeface="Arial" panose="020B0604020202020204"/>
              <a:buChar char="•"/>
            </a:pP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Pandas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9780" lvl="1" indent="-389890" algn="l">
              <a:lnSpc>
                <a:spcPts val="3610"/>
              </a:lnSpc>
              <a:buFont typeface="Arial" panose="020B0604020202020204"/>
              <a:buChar char="•"/>
            </a:pP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NumPy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9780" lvl="1" indent="-389890" algn="l">
              <a:lnSpc>
                <a:spcPts val="3610"/>
              </a:lnSpc>
              <a:buFont typeface="Arial" panose="020B0604020202020204"/>
              <a:buChar char="•"/>
            </a:pP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Matplotlib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79780" lvl="1" indent="-389890" algn="l">
              <a:lnSpc>
                <a:spcPts val="3610"/>
              </a:lnSpc>
              <a:buFont typeface="Arial" panose="020B0604020202020204"/>
              <a:buChar char="•"/>
            </a:pP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Power BI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010"/>
              </a:lnSpc>
            </a:pP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420"/>
              </a:lnSpc>
            </a:pPr>
            <a:r>
              <a:rPr lang="en-US" sz="401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2.2 Dataset Information</a:t>
            </a:r>
            <a:endParaRPr lang="en-US" sz="401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5780"/>
              </a:lnSpc>
            </a:pPr>
            <a:r>
              <a:rPr lang="en-US" sz="361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Dataset Name</a:t>
            </a: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Indian Air Quality Index (AQI) Dataset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780"/>
              </a:lnSpc>
            </a:pPr>
            <a:r>
              <a:rPr lang="en-US" sz="361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File Name</a:t>
            </a: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AQI_city_day.csv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780"/>
              </a:lnSpc>
            </a:pPr>
            <a:r>
              <a:rPr lang="en-US" sz="361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dataset contains daily air pollution records collected from different Indian cities. It includes AQI values and pollutant concentrations used to measure air quality levels and environmental conditions.</a:t>
            </a: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735"/>
              </a:lnSpc>
            </a:pP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010"/>
              </a:lnSpc>
            </a:pP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010"/>
              </a:lnSpc>
            </a:pP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010"/>
              </a:lnSpc>
            </a:pPr>
            <a:endParaRPr lang="en-US" sz="361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84817" y="698946"/>
            <a:ext cx="14141028" cy="942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5"/>
              </a:lnSpc>
            </a:pPr>
            <a:r>
              <a:rPr lang="en-US" sz="385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Total Columns:</a:t>
            </a:r>
            <a:endParaRPr lang="en-US" sz="385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89940" lvl="1" indent="-394970" algn="l">
              <a:lnSpc>
                <a:spcPts val="5050"/>
              </a:lnSpc>
              <a:buFont typeface="Arial" panose="020B0604020202020204"/>
              <a:buChar char="•"/>
            </a:pPr>
            <a:r>
              <a:rPr lang="en-US" sz="366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 Columns</a:t>
            </a:r>
            <a:endParaRPr lang="en-US" sz="366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315"/>
              </a:lnSpc>
            </a:pPr>
            <a:r>
              <a:rPr lang="en-US" sz="385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Total Rows: </a:t>
            </a:r>
            <a:endParaRPr lang="en-US" sz="385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89940" lvl="1" indent="-394970" algn="l">
              <a:lnSpc>
                <a:spcPts val="5050"/>
              </a:lnSpc>
              <a:buFont typeface="Arial" panose="020B0604020202020204"/>
              <a:buChar char="•"/>
            </a:pPr>
            <a:r>
              <a:rPr lang="en-US" sz="366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29,531 </a:t>
            </a:r>
            <a:endParaRPr lang="en-US" sz="366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315"/>
              </a:lnSpc>
            </a:pPr>
            <a:r>
              <a:rPr lang="en-US" sz="385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Primary Columns in the AQI Dataset</a:t>
            </a:r>
            <a:endParaRPr lang="en-US" sz="385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City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PM2.5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07390" lvl="1" indent="-353695" algn="l">
              <a:lnSpc>
                <a:spcPts val="4520"/>
              </a:lnSpc>
              <a:buFont typeface="Arial" panose="020B0604020202020204"/>
              <a:buChar char="•"/>
            </a:pPr>
            <a:r>
              <a:rPr lang="en-US" sz="327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PM10</a:t>
            </a:r>
            <a:endParaRPr lang="en-US" sz="327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NO2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SO2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8665" lvl="1" indent="-374650" algn="l">
              <a:lnSpc>
                <a:spcPts val="4785"/>
              </a:lnSpc>
              <a:buFont typeface="Arial" panose="020B0604020202020204"/>
              <a:buChar char="•"/>
            </a:pPr>
            <a:r>
              <a:rPr lang="en-US" sz="3470" dirty="0" err="1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AQI_Bucket</a:t>
            </a: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105"/>
              </a:lnSpc>
            </a:pPr>
            <a:endParaRPr lang="en-US" sz="34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74" y="4681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09600" y="190501"/>
            <a:ext cx="14725879" cy="10124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403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2.3 Data Cleaning</a:t>
            </a:r>
            <a:endParaRPr lang="en-US" sz="403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Value Detection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 Median Filling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 Conversion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Duplicate Removal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Feature Engineering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Health Risk Classification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875"/>
              </a:lnSpc>
            </a:pPr>
            <a:r>
              <a:rPr lang="en-US" sz="393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Python Functions Used:</a:t>
            </a:r>
            <a:endParaRPr lang="en-US" sz="393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en-US" sz="3330" dirty="0" err="1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isnull</a:t>
            </a: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().sum()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en-US" sz="3330" dirty="0" err="1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fillna</a:t>
            </a: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()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en-US" sz="3330" dirty="0" err="1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drop_duplicates</a:t>
            </a: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()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8820" lvl="1" indent="-359410" algn="l">
              <a:lnSpc>
                <a:spcPts val="5825"/>
              </a:lnSpc>
              <a:buFont typeface="Arial" panose="020B0604020202020204"/>
              <a:buChar char="•"/>
            </a:pP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en-US" sz="3330" dirty="0" err="1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groupby</a:t>
            </a:r>
            <a:r>
              <a:rPr lang="en-US" sz="33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()</a:t>
            </a: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825"/>
              </a:lnSpc>
            </a:pPr>
            <a:endParaRPr lang="en-US" sz="33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60369" y="96828"/>
            <a:ext cx="17491802" cy="93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5"/>
              </a:lnSpc>
            </a:pPr>
            <a:r>
              <a:rPr lang="en-US" sz="5310" b="1" spc="37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Chapter 3:  Project Overview</a:t>
            </a:r>
            <a:endParaRPr lang="en-US" sz="5310" b="1" spc="37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68401" y="1879840"/>
            <a:ext cx="14146137" cy="667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5"/>
              </a:lnSpc>
            </a:pPr>
            <a:r>
              <a:rPr lang="en-US" sz="3855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Project Title:</a:t>
            </a:r>
            <a:endParaRPr lang="en-US" sz="3855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832485" lvl="1" indent="-416560" algn="l">
              <a:lnSpc>
                <a:spcPts val="5785"/>
              </a:lnSpc>
              <a:buFont typeface="Arial" panose="020B0604020202020204"/>
              <a:buChar char="•"/>
            </a:pPr>
            <a:r>
              <a:rPr lang="en-US" sz="38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Indian Air Quality Index (AQI) Analysis</a:t>
            </a: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785"/>
              </a:lnSpc>
            </a:pP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785"/>
              </a:lnSpc>
            </a:pPr>
            <a:r>
              <a:rPr lang="en-US" sz="3855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Project Goal:</a:t>
            </a:r>
            <a:endParaRPr lang="en-US" sz="3855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832485" lvl="1" indent="-416560" algn="l">
              <a:lnSpc>
                <a:spcPts val="5785"/>
              </a:lnSpc>
              <a:buFont typeface="Arial" panose="020B0604020202020204"/>
              <a:buChar char="•"/>
            </a:pPr>
            <a:r>
              <a:rPr lang="en-US" sz="38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Analyze pollution trends</a:t>
            </a: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32485" lvl="1" indent="-416560" algn="l">
              <a:lnSpc>
                <a:spcPts val="5785"/>
              </a:lnSpc>
              <a:buFont typeface="Arial" panose="020B0604020202020204"/>
              <a:buChar char="•"/>
            </a:pPr>
            <a:r>
              <a:rPr lang="en-US" sz="38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Identify polluted cities</a:t>
            </a: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32485" lvl="1" indent="-416560" algn="l">
              <a:lnSpc>
                <a:spcPts val="5785"/>
              </a:lnSpc>
              <a:buFont typeface="Arial" panose="020B0604020202020204"/>
              <a:buChar char="•"/>
            </a:pPr>
            <a:r>
              <a:rPr lang="en-US" sz="38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Study AQI impact</a:t>
            </a: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32485" lvl="1" indent="-416560" algn="l">
              <a:lnSpc>
                <a:spcPts val="5785"/>
              </a:lnSpc>
              <a:buFont typeface="Arial" panose="020B0604020202020204"/>
              <a:buChar char="•"/>
            </a:pPr>
            <a:r>
              <a:rPr lang="en-US" sz="38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 visual reports</a:t>
            </a: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640"/>
              </a:lnSpc>
            </a:pPr>
            <a:endParaRPr lang="en-US" sz="38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8498" y="3277060"/>
            <a:ext cx="13426137" cy="6636957"/>
          </a:xfrm>
          <a:custGeom>
            <a:avLst/>
            <a:gdLst/>
            <a:ahLst/>
            <a:cxnLst/>
            <a:rect l="l" t="t" r="r" b="b"/>
            <a:pathLst>
              <a:path w="13426137" h="6636957">
                <a:moveTo>
                  <a:pt x="0" y="0"/>
                </a:moveTo>
                <a:lnTo>
                  <a:pt x="13426137" y="0"/>
                </a:lnTo>
                <a:lnTo>
                  <a:pt x="13426137" y="6636956"/>
                </a:lnTo>
                <a:lnTo>
                  <a:pt x="0" y="6636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4480" y="47625"/>
            <a:ext cx="11851467" cy="3681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5"/>
              </a:lnSpc>
            </a:pPr>
            <a:r>
              <a:rPr lang="en-US" sz="4815" b="1" spc="33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3.1 Data Processing Steps:</a:t>
            </a:r>
            <a:endParaRPr lang="en-US" sz="4815" b="1" spc="33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  <a:p>
            <a:pPr algn="l">
              <a:lnSpc>
                <a:spcPts val="4045"/>
              </a:lnSpc>
            </a:pPr>
            <a:r>
              <a:rPr lang="en-US" sz="3855" spc="26">
                <a:solidFill>
                  <a:srgbClr val="193B6A"/>
                </a:solidFill>
                <a:latin typeface="Liberation Sans" panose="020B0604020202020204"/>
                <a:ea typeface="Liberation Sans" panose="020B0604020202020204"/>
                <a:cs typeface="Liberation Sans" panose="020B0604020202020204"/>
                <a:sym typeface="Liberation Sans" panose="020B0604020202020204"/>
              </a:rPr>
              <a:t>Steps Performed During Data Processing</a:t>
            </a:r>
            <a:endParaRPr lang="en-US" sz="3855" spc="26">
              <a:solidFill>
                <a:srgbClr val="193B6A"/>
              </a:solidFill>
              <a:latin typeface="Liberation Sans" panose="020B0604020202020204"/>
              <a:ea typeface="Liberation Sans" panose="020B0604020202020204"/>
              <a:cs typeface="Liberation Sans" panose="020B0604020202020204"/>
              <a:sym typeface="Liberation Sans" panose="020B0604020202020204"/>
            </a:endParaRPr>
          </a:p>
          <a:p>
            <a:pPr algn="l">
              <a:lnSpc>
                <a:spcPts val="4045"/>
              </a:lnSpc>
            </a:pPr>
            <a:endParaRPr lang="en-US" sz="3855" spc="26">
              <a:solidFill>
                <a:srgbClr val="193B6A"/>
              </a:solidFill>
              <a:latin typeface="Liberation Sans" panose="020B0604020202020204"/>
              <a:ea typeface="Liberation Sans" panose="020B0604020202020204"/>
              <a:cs typeface="Liberation Sans" panose="020B0604020202020204"/>
              <a:sym typeface="Liberation Sans" panose="020B0604020202020204"/>
            </a:endParaRPr>
          </a:p>
          <a:p>
            <a:pPr marL="716280" lvl="1" indent="-358140" algn="l">
              <a:lnSpc>
                <a:spcPts val="3480"/>
              </a:lnSpc>
              <a:buAutoNum type="arabicPeriod"/>
            </a:pPr>
            <a:r>
              <a:rPr lang="en-US" sz="3315" spc="23">
                <a:solidFill>
                  <a:srgbClr val="193B6A"/>
                </a:solidFill>
                <a:latin typeface="Liberation Sans" panose="020B0604020202020204"/>
                <a:ea typeface="Liberation Sans" panose="020B0604020202020204"/>
                <a:cs typeface="Liberation Sans" panose="020B0604020202020204"/>
                <a:sym typeface="Liberation Sans" panose="020B0604020202020204"/>
              </a:rPr>
              <a:t> </a:t>
            </a:r>
            <a:r>
              <a:rPr lang="en-US" sz="3315" b="1" spc="23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Dataset Loading</a:t>
            </a:r>
            <a:endParaRPr lang="en-US" sz="3315" b="1" spc="23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  <a:p>
            <a:pPr algn="l">
              <a:lnSpc>
                <a:spcPts val="3480"/>
              </a:lnSpc>
            </a:pPr>
            <a:r>
              <a:rPr lang="en-US" sz="3315" spc="23">
                <a:solidFill>
                  <a:srgbClr val="193B6A"/>
                </a:solidFill>
                <a:latin typeface="Liberation Sans" panose="020B0604020202020204"/>
                <a:ea typeface="Liberation Sans" panose="020B0604020202020204"/>
                <a:cs typeface="Liberation Sans" panose="020B0604020202020204"/>
                <a:sym typeface="Liberation Sans" panose="020B0604020202020204"/>
              </a:rPr>
              <a:t>       Imported AQI dataset using Pandas</a:t>
            </a:r>
            <a:endParaRPr lang="en-US" sz="3315" spc="23">
              <a:solidFill>
                <a:srgbClr val="193B6A"/>
              </a:solidFill>
              <a:latin typeface="Liberation Sans" panose="020B0604020202020204"/>
              <a:ea typeface="Liberation Sans" panose="020B0604020202020204"/>
              <a:cs typeface="Liberation Sans" panose="020B0604020202020204"/>
              <a:sym typeface="Liberation Sans" panose="020B0604020202020204"/>
            </a:endParaRPr>
          </a:p>
          <a:p>
            <a:pPr algn="l">
              <a:lnSpc>
                <a:spcPts val="4045"/>
              </a:lnSpc>
            </a:pPr>
            <a:endParaRPr lang="en-US" sz="3315" spc="23">
              <a:solidFill>
                <a:srgbClr val="193B6A"/>
              </a:solidFill>
              <a:latin typeface="Liberation Sans" panose="020B0604020202020204"/>
              <a:ea typeface="Liberation Sans" panose="020B0604020202020204"/>
              <a:cs typeface="Liberation Sans" panose="020B0604020202020204"/>
              <a:sym typeface="Liberation Sans" panose="020B0604020202020204"/>
            </a:endParaRPr>
          </a:p>
          <a:p>
            <a:pPr algn="l">
              <a:lnSpc>
                <a:spcPts val="5395"/>
              </a:lnSpc>
            </a:pPr>
            <a:endParaRPr lang="en-US" sz="3315" spc="23">
              <a:solidFill>
                <a:srgbClr val="193B6A"/>
              </a:solidFill>
              <a:latin typeface="Liberation Sans" panose="020B0604020202020204"/>
              <a:ea typeface="Liberation Sans" panose="020B0604020202020204"/>
              <a:cs typeface="Liberation Sans" panose="020B0604020202020204"/>
              <a:sym typeface="Liberation Sans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5027" y="1440633"/>
            <a:ext cx="4382212" cy="8114589"/>
          </a:xfrm>
          <a:custGeom>
            <a:avLst/>
            <a:gdLst/>
            <a:ahLst/>
            <a:cxnLst/>
            <a:rect l="l" t="t" r="r" b="b"/>
            <a:pathLst>
              <a:path w="4382212" h="8114589">
                <a:moveTo>
                  <a:pt x="0" y="0"/>
                </a:moveTo>
                <a:lnTo>
                  <a:pt x="4382212" y="0"/>
                </a:lnTo>
                <a:lnTo>
                  <a:pt x="4382212" y="8114590"/>
                </a:lnTo>
                <a:lnTo>
                  <a:pt x="0" y="8114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2545" y="411385"/>
            <a:ext cx="10329387" cy="127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Missing Value Detection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Identified null values using .isnull().sum()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230"/>
              </a:lnSpc>
            </a:pP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6897" y="2071783"/>
            <a:ext cx="16798237" cy="6611634"/>
          </a:xfrm>
          <a:custGeom>
            <a:avLst/>
            <a:gdLst/>
            <a:ahLst/>
            <a:cxnLst/>
            <a:rect l="l" t="t" r="r" b="b"/>
            <a:pathLst>
              <a:path w="16798237" h="6611634">
                <a:moveTo>
                  <a:pt x="0" y="0"/>
                </a:moveTo>
                <a:lnTo>
                  <a:pt x="16798237" y="0"/>
                </a:lnTo>
                <a:lnTo>
                  <a:pt x="16798237" y="6611634"/>
                </a:lnTo>
                <a:lnTo>
                  <a:pt x="0" y="661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" r="-300" b="-966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6897" y="389478"/>
            <a:ext cx="10329387" cy="168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9250" lvl="1" algn="l">
              <a:lnSpc>
                <a:spcPts val="3230"/>
              </a:lnSpc>
            </a:pPr>
            <a:r>
              <a:rPr lang="en-US" sz="3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Date Formatting</a:t>
            </a: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Converted Date column into datetime format</a:t>
            </a: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Extracted Year column for yearly analysis</a:t>
            </a: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230"/>
              </a:lnSpc>
            </a:pP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4000" y="2019300"/>
            <a:ext cx="9192867" cy="7255599"/>
          </a:xfrm>
          <a:custGeom>
            <a:avLst/>
            <a:gdLst/>
            <a:ahLst/>
            <a:cxnLst/>
            <a:rect l="l" t="t" r="r" b="b"/>
            <a:pathLst>
              <a:path w="9192867" h="7255599">
                <a:moveTo>
                  <a:pt x="0" y="0"/>
                </a:moveTo>
                <a:lnTo>
                  <a:pt x="9192867" y="0"/>
                </a:lnTo>
                <a:lnTo>
                  <a:pt x="9192867" y="7255599"/>
                </a:lnTo>
                <a:lnTo>
                  <a:pt x="0" y="7255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" b="-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4151" y="696267"/>
            <a:ext cx="12865653" cy="168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9250" lvl="1" algn="l">
              <a:lnSpc>
                <a:spcPts val="3230"/>
              </a:lnSpc>
            </a:pPr>
            <a:r>
              <a:rPr lang="en-US" sz="3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AQI Median Replacement</a:t>
            </a: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Filled missing AQI values using city-wise median AQI</a:t>
            </a: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230"/>
              </a:lnSpc>
            </a:pP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230"/>
              </a:lnSpc>
            </a:pPr>
            <a:endParaRPr lang="en-US" sz="323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552" y="1867008"/>
            <a:ext cx="4935509" cy="7961543"/>
          </a:xfrm>
          <a:custGeom>
            <a:avLst/>
            <a:gdLst/>
            <a:ahLst/>
            <a:cxnLst/>
            <a:rect l="l" t="t" r="r" b="b"/>
            <a:pathLst>
              <a:path w="4935509" h="7961543">
                <a:moveTo>
                  <a:pt x="0" y="0"/>
                </a:moveTo>
                <a:lnTo>
                  <a:pt x="4935510" y="0"/>
                </a:lnTo>
                <a:lnTo>
                  <a:pt x="4935510" y="7961543"/>
                </a:lnTo>
                <a:lnTo>
                  <a:pt x="0" y="7961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2255" y="409768"/>
            <a:ext cx="10329387" cy="168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 Feature Engineering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Created new column: Health_Risk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97865" lvl="1" indent="-349250" algn="l">
              <a:lnSpc>
                <a:spcPts val="3230"/>
              </a:lnSpc>
              <a:buFont typeface="Arial" panose="020B0604020202020204"/>
              <a:buChar char="•"/>
            </a:pPr>
            <a:r>
              <a:rPr lang="en-US" sz="32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Classified AQI into pollution risk categories</a:t>
            </a: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230"/>
              </a:lnSpc>
            </a:pPr>
            <a:endParaRPr lang="en-US" sz="32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3482" y="2847356"/>
            <a:ext cx="8513342" cy="4592288"/>
          </a:xfrm>
          <a:custGeom>
            <a:avLst/>
            <a:gdLst/>
            <a:ahLst/>
            <a:cxnLst/>
            <a:rect l="l" t="t" r="r" b="b"/>
            <a:pathLst>
              <a:path w="8513342" h="4592288">
                <a:moveTo>
                  <a:pt x="0" y="0"/>
                </a:moveTo>
                <a:lnTo>
                  <a:pt x="8513342" y="0"/>
                </a:lnTo>
                <a:lnTo>
                  <a:pt x="8513342" y="4592288"/>
                </a:lnTo>
                <a:lnTo>
                  <a:pt x="0" y="459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0" r="-1216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88200" y="2847356"/>
            <a:ext cx="8020802" cy="4498475"/>
          </a:xfrm>
          <a:custGeom>
            <a:avLst/>
            <a:gdLst/>
            <a:ahLst/>
            <a:cxnLst/>
            <a:rect l="l" t="t" r="r" b="b"/>
            <a:pathLst>
              <a:path w="8020802" h="4498475">
                <a:moveTo>
                  <a:pt x="0" y="0"/>
                </a:moveTo>
                <a:lnTo>
                  <a:pt x="8020802" y="0"/>
                </a:lnTo>
                <a:lnTo>
                  <a:pt x="8020802" y="4498475"/>
                </a:lnTo>
                <a:lnTo>
                  <a:pt x="0" y="449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3" r="-6104" b="-14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57150"/>
            <a:ext cx="12926523" cy="64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463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3.2 Visual Analysis</a:t>
            </a:r>
            <a:endParaRPr lang="en-US" sz="463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3482" y="1325091"/>
            <a:ext cx="9463558" cy="91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170" lvl="1" indent="-362585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336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 Trend Line Chart</a:t>
            </a:r>
            <a:endParaRPr lang="en-US" sz="336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650"/>
              </a:lnSpc>
            </a:pPr>
            <a:endParaRPr lang="en-US" sz="336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63558" y="1325091"/>
            <a:ext cx="7537678" cy="100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280" lvl="1" indent="-358140" algn="l">
              <a:lnSpc>
                <a:spcPts val="3320"/>
              </a:lnSpc>
              <a:buFont typeface="Arial" panose="020B0604020202020204"/>
              <a:buChar char="•"/>
            </a:pPr>
            <a:r>
              <a:rPr lang="en-US" sz="332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Top 10 Polluted Cities Bar Chart</a:t>
            </a:r>
            <a:endParaRPr lang="en-US" sz="332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120"/>
              </a:lnSpc>
            </a:pPr>
            <a:endParaRPr lang="en-US" sz="332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2350"/>
              </a:lnSpc>
            </a:pPr>
            <a:endParaRPr lang="en-US" sz="332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2095" y="841101"/>
            <a:ext cx="6700936" cy="3935338"/>
          </a:xfrm>
          <a:custGeom>
            <a:avLst/>
            <a:gdLst/>
            <a:ahLst/>
            <a:cxnLst/>
            <a:rect l="l" t="t" r="r" b="b"/>
            <a:pathLst>
              <a:path w="6700936" h="3935338">
                <a:moveTo>
                  <a:pt x="0" y="0"/>
                </a:moveTo>
                <a:lnTo>
                  <a:pt x="6700936" y="0"/>
                </a:lnTo>
                <a:lnTo>
                  <a:pt x="6700936" y="3935337"/>
                </a:lnTo>
                <a:lnTo>
                  <a:pt x="0" y="393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75299" y="842792"/>
            <a:ext cx="6748322" cy="6016946"/>
          </a:xfrm>
          <a:custGeom>
            <a:avLst/>
            <a:gdLst/>
            <a:ahLst/>
            <a:cxnLst/>
            <a:rect l="l" t="t" r="r" b="b"/>
            <a:pathLst>
              <a:path w="6748322" h="6016946">
                <a:moveTo>
                  <a:pt x="0" y="0"/>
                </a:moveTo>
                <a:lnTo>
                  <a:pt x="6748323" y="0"/>
                </a:lnTo>
                <a:lnTo>
                  <a:pt x="6748323" y="6016946"/>
                </a:lnTo>
                <a:lnTo>
                  <a:pt x="0" y="6016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2" t="-158" r="-82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0432" y="5782810"/>
            <a:ext cx="7087762" cy="4504190"/>
          </a:xfrm>
          <a:custGeom>
            <a:avLst/>
            <a:gdLst/>
            <a:ahLst/>
            <a:cxnLst/>
            <a:rect l="l" t="t" r="r" b="b"/>
            <a:pathLst>
              <a:path w="7087762" h="4504190">
                <a:moveTo>
                  <a:pt x="0" y="0"/>
                </a:moveTo>
                <a:lnTo>
                  <a:pt x="7087762" y="0"/>
                </a:lnTo>
                <a:lnTo>
                  <a:pt x="7087762" y="4504190"/>
                </a:lnTo>
                <a:lnTo>
                  <a:pt x="0" y="4504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8100"/>
            <a:ext cx="10048915" cy="12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8815" lvl="1" indent="-339725" algn="l">
              <a:lnSpc>
                <a:spcPts val="3145"/>
              </a:lnSpc>
              <a:buFont typeface="Arial" panose="020B0604020202020204"/>
              <a:buChar char="•"/>
            </a:pPr>
            <a:r>
              <a:rPr lang="en-US" sz="3145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 Distribution Histogram</a:t>
            </a:r>
            <a:endParaRPr lang="en-US" sz="314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45"/>
              </a:lnSpc>
            </a:pPr>
            <a:endParaRPr lang="en-US" sz="314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45"/>
              </a:lnSpc>
            </a:pPr>
            <a:endParaRPr lang="en-US" sz="314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69336" y="241582"/>
            <a:ext cx="10075574" cy="124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155"/>
              </a:lnSpc>
              <a:buFont typeface="Arial" panose="020B0604020202020204"/>
              <a:buChar char="•"/>
            </a:pPr>
            <a:r>
              <a:rPr lang="en-US" sz="3155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AQI Health Risk Pie Chart</a:t>
            </a: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55"/>
              </a:lnSpc>
            </a:pP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55"/>
              </a:lnSpc>
            </a:pP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0" y="5181600"/>
            <a:ext cx="10075574" cy="124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155"/>
              </a:lnSpc>
              <a:buFont typeface="Arial" panose="020B0604020202020204"/>
              <a:buChar char="•"/>
            </a:pPr>
            <a:r>
              <a:rPr lang="en-US" sz="3155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PM2.5 vs AQI Scatter Plot</a:t>
            </a: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55"/>
              </a:lnSpc>
            </a:pP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155"/>
              </a:lnSpc>
            </a:pPr>
            <a:endParaRPr lang="en-US" sz="3155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78425" y="961350"/>
            <a:ext cx="12396258" cy="9325650"/>
          </a:xfrm>
          <a:custGeom>
            <a:avLst/>
            <a:gdLst/>
            <a:ahLst/>
            <a:cxnLst/>
            <a:rect l="l" t="t" r="r" b="b"/>
            <a:pathLst>
              <a:path w="12396258" h="9325650">
                <a:moveTo>
                  <a:pt x="0" y="0"/>
                </a:moveTo>
                <a:lnTo>
                  <a:pt x="12396257" y="0"/>
                </a:lnTo>
                <a:lnTo>
                  <a:pt x="12396257" y="9325650"/>
                </a:lnTo>
                <a:lnTo>
                  <a:pt x="0" y="932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0" b="-100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180" y="57150"/>
            <a:ext cx="10329387" cy="55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403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3.3 Power BI Dashboard</a:t>
            </a:r>
            <a:endParaRPr lang="en-US" sz="403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590" y="1983368"/>
            <a:ext cx="10329387" cy="402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Observations: 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730"/>
              </a:lnSpc>
            </a:pP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60045" algn="l">
              <a:lnSpc>
                <a:spcPts val="410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Delhi recorded very high AQI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60045" algn="l">
              <a:lnSpc>
                <a:spcPts val="410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PM2.5 strongly affected AQI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60045" algn="l">
              <a:lnSpc>
                <a:spcPts val="410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Urban cities showed severe pollution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60045" algn="l">
              <a:lnSpc>
                <a:spcPts val="410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Seasonal AQI fluctuations observed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19455" lvl="1" indent="-360045" algn="l">
              <a:lnSpc>
                <a:spcPts val="4100"/>
              </a:lnSpc>
              <a:buFont typeface="Arial" panose="020B0604020202020204"/>
              <a:buChar char="•"/>
            </a:pPr>
            <a:r>
              <a:rPr lang="en-US" sz="33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Many records were in unhealthy AQI categories</a:t>
            </a: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4100"/>
              </a:lnSpc>
            </a:pPr>
            <a:endParaRPr lang="en-US" sz="33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36590" y="6043972"/>
            <a:ext cx="10329387" cy="468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Conclusion: 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3730"/>
              </a:lnSpc>
            </a:pP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05815" lvl="1" indent="-403225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Successfully analyzed AQI data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05815" lvl="1" indent="-403225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Cleaned and visualized pollution dataset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05815" lvl="1" indent="-403225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Learned practical Python analytics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05815" lvl="1" indent="-403225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interactive Power BI dashboards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05815" lvl="1" indent="-403225" algn="l">
              <a:lnSpc>
                <a:spcPts val="5000"/>
              </a:lnSpc>
              <a:buFont typeface="Arial" panose="020B0604020202020204"/>
              <a:buChar char="•"/>
            </a:pPr>
            <a:r>
              <a:rPr lang="en-US" sz="373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Improved analytical skills</a:t>
            </a: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000"/>
              </a:lnSpc>
            </a:pPr>
            <a:endParaRPr lang="en-US" sz="373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698207" y="408751"/>
            <a:ext cx="14306252" cy="69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0"/>
              </a:lnSpc>
              <a:spcBef>
                <a:spcPct val="0"/>
              </a:spcBef>
            </a:pPr>
            <a:r>
              <a:rPr lang="en-US" sz="5030" b="1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Chapter 4: Observations and Conclusion</a:t>
            </a:r>
            <a:endParaRPr lang="en-US" sz="5030" b="1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4480" y="255732"/>
            <a:ext cx="12643898" cy="874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5060" b="1" dirty="0">
                <a:solidFill>
                  <a:srgbClr val="193B6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About Project &amp; Results</a:t>
            </a:r>
            <a:endParaRPr lang="en-US" sz="506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3955"/>
              </a:lnSpc>
            </a:pPr>
            <a:endParaRPr lang="en-US" sz="5060" b="1" dirty="0">
              <a:solidFill>
                <a:srgbClr val="193B6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6165"/>
              </a:lnSpc>
            </a:pPr>
            <a:r>
              <a:rPr lang="en-US" sz="4570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About Project: </a:t>
            </a:r>
            <a:endParaRPr lang="en-US" sz="4570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Real-world </a:t>
            </a: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environmental analysis project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Used Python and Power BI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Focused on Indian AQI dataset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6150"/>
              </a:lnSpc>
            </a:pPr>
            <a:r>
              <a:rPr lang="en-US" sz="45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Results: </a:t>
            </a:r>
            <a:endParaRPr lang="en-US" sz="45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Identified highly polluted cities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Found AQI pollution patterns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Created professional visualizations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54075" lvl="1" indent="-427355" algn="l">
              <a:lnSpc>
                <a:spcPts val="5340"/>
              </a:lnSpc>
              <a:buFont typeface="Arial" panose="020B0604020202020204"/>
              <a:buChar char="•"/>
            </a:pPr>
            <a:r>
              <a:rPr lang="en-US" sz="3955" dirty="0">
                <a:solidFill>
                  <a:srgbClr val="193B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Improved environmental understanding</a:t>
            </a: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340"/>
              </a:lnSpc>
            </a:pP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l">
              <a:lnSpc>
                <a:spcPts val="5340"/>
              </a:lnSpc>
            </a:pPr>
            <a:endParaRPr lang="en-US" sz="3955" dirty="0">
              <a:solidFill>
                <a:srgbClr val="193B6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3416" b="-8341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632672" y="3972757"/>
            <a:ext cx="13022655" cy="206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85"/>
              </a:lnSpc>
            </a:pPr>
            <a:r>
              <a:rPr lang="en-US" sz="11775" b="1" spc="82">
                <a:solidFill>
                  <a:srgbClr val="193B6A"/>
                </a:solidFill>
                <a:latin typeface="Liberation Sans Bold" panose="020B0704020202020204"/>
                <a:ea typeface="Liberation Sans Bold" panose="020B0704020202020204"/>
                <a:cs typeface="Liberation Sans Bold" panose="020B0704020202020204"/>
                <a:sym typeface="Liberation Sans Bold" panose="020B0704020202020204"/>
              </a:rPr>
              <a:t>THANK YOU</a:t>
            </a:r>
            <a:endParaRPr lang="en-US" sz="11775" b="1" spc="82">
              <a:solidFill>
                <a:srgbClr val="193B6A"/>
              </a:solidFill>
              <a:latin typeface="Liberation Sans Bold" panose="020B0704020202020204"/>
              <a:ea typeface="Liberation Sans Bold" panose="020B0704020202020204"/>
              <a:cs typeface="Liberation Sans Bold" panose="020B0704020202020204"/>
              <a:sym typeface="Liberation Sans Bold" panose="020B07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30826" y="1172036"/>
            <a:ext cx="3593901" cy="45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5"/>
              </a:lnSpc>
            </a:pPr>
            <a:r>
              <a:rPr lang="en-US" sz="3255">
                <a:solidFill>
                  <a:srgbClr val="F2F2F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2nd May, 2030</a:t>
            </a:r>
            <a:endParaRPr lang="en-US" sz="3255">
              <a:solidFill>
                <a:srgbClr val="F2F2F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3260</Words>
  <Application>WPS Presentation</Application>
  <PresentationFormat>Custom</PresentationFormat>
  <Paragraphs>192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Arial</vt:lpstr>
      <vt:lpstr>Times New Roman</vt:lpstr>
      <vt:lpstr>Liberation Sans Bold</vt:lpstr>
      <vt:lpstr>Arial Bold</vt:lpstr>
      <vt:lpstr>Liberation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Air Quality Analysis</dc:title>
  <dc:creator>Roshan Chaure</dc:creator>
  <cp:lastModifiedBy>MONALI KUKDE</cp:lastModifiedBy>
  <cp:revision>6</cp:revision>
  <dcterms:created xsi:type="dcterms:W3CDTF">2006-08-16T00:00:00Z</dcterms:created>
  <dcterms:modified xsi:type="dcterms:W3CDTF">2021-09-24T19:34:48Z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D989ADB4CE264DEBA0A713B666FBBDFE_13</vt:lpwstr>
  </property>
</Properties>
</file>